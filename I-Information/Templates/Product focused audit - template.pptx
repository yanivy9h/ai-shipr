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Unbounded Medium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Corben"/>
      <p:regular r:id="rId21"/>
      <p:bold r:id="rId22"/>
    </p:embeddedFont>
    <p:embeddedFont>
      <p:font typeface="Unbounded ExtraLight"/>
      <p:regular r:id="rId23"/>
      <p:bold r:id="rId24"/>
    </p:embeddedFont>
    <p:embeddedFont>
      <p:font typeface="Barlow"/>
      <p:regular r:id="rId25"/>
      <p:bold r:id="rId26"/>
      <p:italic r:id="rId27"/>
      <p:boldItalic r:id="rId28"/>
    </p:embeddedFont>
    <p:embeddedFont>
      <p:font typeface="Unbounde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Corben-bold.fntdata"/><Relationship Id="rId21" Type="http://schemas.openxmlformats.org/officeDocument/2006/relationships/font" Target="fonts/Corben-regular.fntdata"/><Relationship Id="rId24" Type="http://schemas.openxmlformats.org/officeDocument/2006/relationships/font" Target="fonts/UnboundedExtraLight-bold.fntdata"/><Relationship Id="rId23" Type="http://schemas.openxmlformats.org/officeDocument/2006/relationships/font" Target="fonts/UnboundedExtra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-bold.fntdata"/><Relationship Id="rId25" Type="http://schemas.openxmlformats.org/officeDocument/2006/relationships/font" Target="fonts/Barlow-regular.fntdata"/><Relationship Id="rId28" Type="http://schemas.openxmlformats.org/officeDocument/2006/relationships/font" Target="fonts/Barlow-boldItalic.fntdata"/><Relationship Id="rId27" Type="http://schemas.openxmlformats.org/officeDocument/2006/relationships/font" Target="fonts/Barl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nbounde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Unbounde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nboundedMedium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UnboundedMedium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6409b07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06409b07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06409b079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06409b079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6409b079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6409b079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06409b079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06409b079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9e4dbf607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9e4dbf60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06409b079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06409b079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6409b079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06409b079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6409b079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6409b079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9e4dbf60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9e4dbf60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bove image">
  <p:cSld name="SECTION_HEADER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33625"/>
            <a:ext cx="8520600" cy="572700"/>
          </a:xfrm>
          <a:prstGeom prst="rect">
            <a:avLst/>
          </a:prstGeom>
          <a:solidFill>
            <a:srgbClr val="E8E7FC">
              <a:alpha val="5253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93475"/>
            <a:ext cx="8520600" cy="3416400"/>
          </a:xfrm>
          <a:prstGeom prst="rect">
            <a:avLst/>
          </a:prstGeom>
          <a:solidFill>
            <a:srgbClr val="E8E7FC">
              <a:alpha val="5253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above image">
  <p:cSld name="SECTION_HEADER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/>
          <p:nvPr>
            <p:ph idx="2" type="pic"/>
          </p:nvPr>
        </p:nvSpPr>
        <p:spPr>
          <a:xfrm>
            <a:off x="0" y="16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148600"/>
            <a:ext cx="8520600" cy="846300"/>
          </a:xfrm>
          <a:prstGeom prst="rect">
            <a:avLst/>
          </a:prstGeom>
          <a:solidFill>
            <a:srgbClr val="800082">
              <a:alpha val="6456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itle right content">
  <p:cSld name="TITLE_AND_BODY_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0" y="275"/>
            <a:ext cx="3933900" cy="5143500"/>
          </a:xfrm>
          <a:prstGeom prst="rect">
            <a:avLst/>
          </a:prstGeom>
          <a:solidFill>
            <a:srgbClr val="780DA7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84550" y="217950"/>
            <a:ext cx="4696800" cy="46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AND_BODY_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" name="Google Shape;34;p8"/>
          <p:cNvGrpSpPr/>
          <p:nvPr/>
        </p:nvGrpSpPr>
        <p:grpSpPr>
          <a:xfrm>
            <a:off x="866149" y="236193"/>
            <a:ext cx="7964574" cy="4333179"/>
            <a:chOff x="2795642" y="565141"/>
            <a:chExt cx="3552600" cy="4001828"/>
          </a:xfrm>
        </p:grpSpPr>
        <p:sp>
          <p:nvSpPr>
            <p:cNvPr id="35" name="Google Shape;35;p8"/>
            <p:cNvSpPr/>
            <p:nvPr/>
          </p:nvSpPr>
          <p:spPr>
            <a:xfrm>
              <a:off x="2795642" y="1177869"/>
              <a:ext cx="3552600" cy="33891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71450" rotWithShape="0" algn="bl" dir="2700000" dist="571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" name="Google Shape;36;p8"/>
            <p:cNvSpPr/>
            <p:nvPr/>
          </p:nvSpPr>
          <p:spPr>
            <a:xfrm>
              <a:off x="2795643" y="643908"/>
              <a:ext cx="913800" cy="534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71450" rotWithShape="0" algn="bl" dir="2700000" dist="571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" name="Google Shape;37;p8"/>
            <p:cNvSpPr txBox="1"/>
            <p:nvPr/>
          </p:nvSpPr>
          <p:spPr>
            <a:xfrm>
              <a:off x="2924956" y="565141"/>
              <a:ext cx="735600" cy="8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0">
                  <a:solidFill>
                    <a:srgbClr val="FF0000"/>
                  </a:solidFill>
                  <a:latin typeface="Corben"/>
                  <a:ea typeface="Corben"/>
                  <a:cs typeface="Corben"/>
                  <a:sym typeface="Corben"/>
                </a:rPr>
                <a:t>“</a:t>
              </a:r>
              <a:endParaRPr b="1" sz="5000">
                <a:solidFill>
                  <a:srgbClr val="FF00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1136350" y="923875"/>
            <a:ext cx="7336200" cy="24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933000" y="3863600"/>
            <a:ext cx="7679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  <a:defRPr>
                <a:solidFill>
                  <a:srgbClr val="FF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1076550" y="4796625"/>
            <a:ext cx="7395900" cy="1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">
  <p:cSld name="TITLE_AND_BOD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311700" y="64025"/>
            <a:ext cx="484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311700" y="923875"/>
            <a:ext cx="4843800" cy="3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5294650" y="-125"/>
            <a:ext cx="3849300" cy="5143500"/>
          </a:xfrm>
          <a:prstGeom prst="rect">
            <a:avLst/>
          </a:prstGeom>
          <a:noFill/>
          <a:ln cap="flat" cmpd="sng" w="19050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9"/>
          <p:cNvSpPr/>
          <p:nvPr>
            <p:ph idx="2" type="pic"/>
          </p:nvPr>
        </p:nvSpPr>
        <p:spPr>
          <a:xfrm>
            <a:off x="5346850" y="0"/>
            <a:ext cx="3849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0082"/>
              </a:buClr>
              <a:buSzPts val="3200"/>
              <a:buFont typeface="Unbounded Medium"/>
              <a:buNone/>
              <a:defRPr sz="3200">
                <a:solidFill>
                  <a:srgbClr val="800082"/>
                </a:solidFill>
                <a:latin typeface="Unbounded Medium"/>
                <a:ea typeface="Unbounded Medium"/>
                <a:cs typeface="Unbounded Medium"/>
                <a:sym typeface="Unbou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 title="verve-pm_Purple transparen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623700" y="4749147"/>
            <a:ext cx="444175" cy="33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nenglishplease.onrend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80DA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ctrTitle"/>
          </p:nvPr>
        </p:nvSpPr>
        <p:spPr>
          <a:xfrm>
            <a:off x="212388" y="1250097"/>
            <a:ext cx="8719200" cy="216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Product walkthrough &amp; </a:t>
            </a:r>
            <a:r>
              <a:rPr lang="en">
                <a:solidFill>
                  <a:schemeClr val="lt1"/>
                </a:solidFill>
                <a:highlight>
                  <a:srgbClr val="FF08B5"/>
                </a:highlight>
              </a:rPr>
              <a:t>focused audit</a:t>
            </a:r>
            <a:endParaRPr sz="2400">
              <a:solidFill>
                <a:schemeClr val="lt1"/>
              </a:solidFill>
              <a:highlight>
                <a:srgbClr val="FF08B5"/>
              </a:highlight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0" y="-1800"/>
            <a:ext cx="9144000" cy="104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11688" y="35583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Yaniv Yaakubovich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4" name="Google Shape;84;p18" title="verve-pm_Purple 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9524"/>
            <a:ext cx="855925" cy="6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0" y="275"/>
            <a:ext cx="3933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Today’s meeting</a:t>
            </a:r>
            <a:endParaRPr sz="2800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4184550" y="217950"/>
            <a:ext cx="4696800" cy="46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80DA7"/>
                </a:solidFill>
              </a:rPr>
              <a:t>Goal</a:t>
            </a:r>
            <a:endParaRPr>
              <a:solidFill>
                <a:srgbClr val="780D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Align on where the product is today, surface the most painful challenges, and kick-off the discovery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80DA7"/>
                </a:solidFill>
              </a:rPr>
              <a:t>Structure</a:t>
            </a:r>
            <a:endParaRPr b="1">
              <a:solidFill>
                <a:srgbClr val="780DA7"/>
              </a:solidFill>
            </a:endParaRPr>
          </a:p>
          <a:p>
            <a:pPr indent="-342900" lvl="0" marL="457200" marR="3810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Clarify product </a:t>
            </a:r>
            <a:r>
              <a:rPr b="1" lang="en">
                <a:solidFill>
                  <a:srgbClr val="FF08B5"/>
                </a:solidFill>
              </a:rPr>
              <a:t>thesis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FF08B5"/>
                </a:solidFill>
              </a:rPr>
              <a:t>Stress-test</a:t>
            </a:r>
            <a:r>
              <a:rPr lang="en">
                <a:solidFill>
                  <a:schemeClr val="dk1"/>
                </a:solidFill>
              </a:rPr>
              <a:t> current plan, 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co-create next 2–3 experiments.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80DA7"/>
                </a:solidFill>
              </a:rPr>
              <a:t>Outcome</a:t>
            </a:r>
            <a:endParaRPr b="1">
              <a:solidFill>
                <a:srgbClr val="780DA7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You’ll walk out with 2–3 concrete </a:t>
            </a:r>
            <a:r>
              <a:rPr b="1" lang="en">
                <a:solidFill>
                  <a:srgbClr val="FF08B5"/>
                </a:solidFill>
              </a:rPr>
              <a:t>product bets</a:t>
            </a:r>
            <a:r>
              <a:rPr lang="en">
                <a:solidFill>
                  <a:schemeClr val="dk1"/>
                </a:solidFill>
              </a:rPr>
              <a:t> worth testing in the next 2 weeks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64025"/>
            <a:ext cx="8520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Product snapshot (current reality, not future vision)</a:t>
            </a:r>
            <a:endParaRPr sz="2400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255600" y="1233725"/>
            <a:ext cx="8576700" cy="25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Quick </a:t>
            </a:r>
            <a:r>
              <a:rPr i="1"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Answer</a:t>
            </a:r>
            <a:r>
              <a:rPr i="1"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s only. We’re optimizing for signal, not accuracy</a:t>
            </a:r>
            <a:endParaRPr i="1" sz="1400">
              <a:solidFill>
                <a:srgbClr val="780DA7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8B5"/>
              </a:buClr>
              <a:buSzPts val="1800"/>
              <a:buAutoNum type="arabicPeriod"/>
            </a:pPr>
            <a:r>
              <a:rPr lang="en"/>
              <a:t>Problem &amp; who it’s for (segments, “best-fit” users)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AutoNum type="alphaLcPeriod"/>
            </a:pPr>
            <a:r>
              <a:rPr lang="en"/>
              <a:t>&lt;Your answer here&gt;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800"/>
              <a:buAutoNum type="arabicPeriod"/>
            </a:pPr>
            <a:r>
              <a:rPr lang="en"/>
              <a:t>Current traction &amp; usage patterns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800"/>
              <a:buAutoNum type="arabicPeriod"/>
            </a:pPr>
            <a:r>
              <a:rPr lang="en"/>
              <a:t>Top 1–2 product bets you’re making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1742638"/>
            <a:ext cx="85206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Quick demo</a:t>
            </a:r>
            <a:endParaRPr sz="2400"/>
          </a:p>
        </p:txBody>
      </p:sp>
      <p:sp>
        <p:nvSpPr>
          <p:cNvPr id="102" name="Google Shape;102;p21"/>
          <p:cNvSpPr txBox="1"/>
          <p:nvPr/>
        </p:nvSpPr>
        <p:spPr>
          <a:xfrm>
            <a:off x="688500" y="2846763"/>
            <a:ext cx="77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00082"/>
                </a:solidFill>
                <a:latin typeface="Unbounded ExtraLight"/>
                <a:ea typeface="Unbounded ExtraLight"/>
                <a:cs typeface="Unbounded ExtraLight"/>
                <a:sym typeface="Unbounded ExtraLight"/>
              </a:rPr>
              <a:t>Let’s keep this to 5 minutes</a:t>
            </a:r>
            <a:endParaRPr>
              <a:latin typeface="Unbounded ExtraLight"/>
              <a:ea typeface="Unbounded ExtraLight"/>
              <a:cs typeface="Unbounded ExtraLight"/>
              <a:sym typeface="Unbounded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64025"/>
            <a:ext cx="484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valid product bet must answer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321200"/>
            <a:ext cx="4843800" cy="348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We will select no more than 3</a:t>
            </a:r>
            <a:endParaRPr sz="1400">
              <a:solidFill>
                <a:srgbClr val="780DA7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8B5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What assumption are we testing?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What change are we making?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</a:rPr>
              <a:t>What signal would tell us we’re right or wrong?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Optional bets areas: Specific flow, GTM, Product process, Technology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5346850" y="0"/>
            <a:ext cx="3849300" cy="5143500"/>
          </a:xfrm>
          <a:prstGeom prst="rect">
            <a:avLst/>
          </a:prstGeom>
        </p:spPr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850" y="1001720"/>
            <a:ext cx="3849300" cy="3609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Draft goals &amp; direction (audit hypothesis)</a:t>
            </a:r>
            <a:endParaRPr sz="2400"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923875"/>
            <a:ext cx="8520600" cy="42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If we’re successful, within </a:t>
            </a:r>
            <a:r>
              <a:rPr lang="en" sz="1600" strike="sngStrike"/>
              <a:t>6</a:t>
            </a:r>
            <a:r>
              <a:rPr lang="en" sz="1600"/>
              <a:t> 2-3 months we should be able to say: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2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 sz="12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Roadmap</a:t>
            </a:r>
            <a:r>
              <a:rPr lang="en" sz="1600"/>
              <a:t>: </a:t>
            </a:r>
            <a:r>
              <a:rPr lang="en" sz="1600">
                <a:solidFill>
                  <a:srgbClr val="FF08B5"/>
                </a:solidFill>
              </a:rPr>
              <a:t>Now</a:t>
            </a:r>
            <a:r>
              <a:rPr lang="en" sz="1600"/>
              <a:t> (focus &amp; stabilize). What must work before anything else?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Roadmap: </a:t>
            </a:r>
            <a:r>
              <a:rPr lang="en" sz="1600">
                <a:solidFill>
                  <a:srgbClr val="FF08B5"/>
                </a:solidFill>
              </a:rPr>
              <a:t>Next</a:t>
            </a:r>
            <a:r>
              <a:rPr lang="en" sz="1600"/>
              <a:t> (learn &amp; validate). What we need to learn or validate?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2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 sz="12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Roadmap</a:t>
            </a:r>
            <a:r>
              <a:rPr lang="en" sz="1600"/>
              <a:t>: </a:t>
            </a:r>
            <a:r>
              <a:rPr lang="en" sz="1600">
                <a:solidFill>
                  <a:srgbClr val="FF08B5"/>
                </a:solidFill>
              </a:rPr>
              <a:t>Out of scope</a:t>
            </a:r>
            <a:r>
              <a:rPr lang="en" sz="1600"/>
              <a:t>. What should we not work on yet?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F08B5"/>
              </a:buClr>
              <a:buSzPts val="12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 sz="12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Decision gate:</a:t>
            </a:r>
            <a:r>
              <a:rPr lang="en">
                <a:solidFill>
                  <a:schemeClr val="dk1"/>
                </a:solidFill>
              </a:rPr>
              <a:t> We will leave this section with </a:t>
            </a:r>
            <a:r>
              <a:rPr i="1" lang="en">
                <a:solidFill>
                  <a:schemeClr val="dk1"/>
                </a:solidFill>
              </a:rPr>
              <a:t>max 3 bets</a:t>
            </a:r>
            <a:r>
              <a:rPr lang="en">
                <a:solidFill>
                  <a:schemeClr val="dk1"/>
                </a:solidFill>
              </a:rPr>
              <a:t> worth testing in the next </a:t>
            </a:r>
            <a:r>
              <a:rPr lang="en">
                <a:solidFill>
                  <a:schemeClr val="dk1"/>
                </a:solidFill>
              </a:rPr>
              <a:t>2 weeks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&amp; Engineering collaboration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This is where execution usually breaks not strategy</a:t>
            </a:r>
            <a:endParaRPr i="1" sz="1400">
              <a:solidFill>
                <a:srgbClr val="780DA7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are the gaps </a:t>
            </a:r>
            <a:r>
              <a:rPr lang="en"/>
              <a:t>between</a:t>
            </a:r>
            <a:r>
              <a:rPr lang="en"/>
              <a:t> engineering &amp; product goals today?What causes them?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Where do tradeoffs get unclear?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0" y="275"/>
            <a:ext cx="3933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Agreed product bets (next </a:t>
            </a:r>
            <a:r>
              <a:rPr lang="en"/>
              <a:t>2 weeks</a:t>
            </a:r>
            <a:r>
              <a:rPr lang="en"/>
              <a:t>)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4184550" y="217950"/>
            <a:ext cx="46968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780DA7"/>
                </a:solidFill>
                <a:latin typeface="Unbounded"/>
                <a:ea typeface="Unbounded"/>
                <a:cs typeface="Unbounded"/>
                <a:sym typeface="Unbounded"/>
              </a:rPr>
              <a:t>Based on today, we’ve agreed on 2–3 bets worth testing.</a:t>
            </a:r>
            <a:endParaRPr i="1" sz="1400">
              <a:solidFill>
                <a:srgbClr val="780DA7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(Example) </a:t>
            </a:r>
            <a:r>
              <a:rPr lang="en">
                <a:solidFill>
                  <a:schemeClr val="dk1"/>
                </a:solidFill>
              </a:rPr>
              <a:t>Funnel improvement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(Example) </a:t>
            </a:r>
            <a:r>
              <a:rPr lang="en"/>
              <a:t>Improve onboarding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(Example) </a:t>
            </a:r>
            <a:r>
              <a:rPr lang="en"/>
              <a:t>AI product - Simplification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&lt;Your answer here&gt;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https://inenglishplease.onrender.com/</a:t>
            </a:r>
            <a:r>
              <a:rPr lang="en"/>
              <a:t> 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