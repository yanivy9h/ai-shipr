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Unbounded Medium"/>
      <p:regular r:id="rId28"/>
      <p:bold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Corben"/>
      <p:regular r:id="rId34"/>
      <p:bold r:id="rId35"/>
    </p:embeddedFont>
    <p:embeddedFont>
      <p:font typeface="Rubik"/>
      <p:regular r:id="rId36"/>
      <p:bold r:id="rId37"/>
      <p:italic r:id="rId38"/>
      <p:boldItalic r:id="rId39"/>
    </p:embeddedFont>
    <p:embeddedFont>
      <p:font typeface="Barlow"/>
      <p:regular r:id="rId40"/>
      <p:bold r:id="rId41"/>
      <p:italic r:id="rId42"/>
      <p:boldItalic r:id="rId43"/>
    </p:embeddedFont>
    <p:embeddedFont>
      <p:font typeface="Unbounded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B63DB4-29A6-4A25-A509-9126EFAA574D}">
  <a:tblStyle styleId="{6BB63DB4-29A6-4A25-A509-9126EFAA57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regular.fntdata"/><Relationship Id="rId20" Type="http://schemas.openxmlformats.org/officeDocument/2006/relationships/slide" Target="slides/slide14.xml"/><Relationship Id="rId42" Type="http://schemas.openxmlformats.org/officeDocument/2006/relationships/font" Target="fonts/Barlow-italic.fntdata"/><Relationship Id="rId41" Type="http://schemas.openxmlformats.org/officeDocument/2006/relationships/font" Target="fonts/Barlow-bold.fntdata"/><Relationship Id="rId22" Type="http://schemas.openxmlformats.org/officeDocument/2006/relationships/slide" Target="slides/slide16.xml"/><Relationship Id="rId44" Type="http://schemas.openxmlformats.org/officeDocument/2006/relationships/font" Target="fonts/Unbounded-regular.fntdata"/><Relationship Id="rId21" Type="http://schemas.openxmlformats.org/officeDocument/2006/relationships/slide" Target="slides/slide15.xml"/><Relationship Id="rId43" Type="http://schemas.openxmlformats.org/officeDocument/2006/relationships/font" Target="fonts/Barlow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Unbounde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UnboundedMedium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nbounded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5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-italic.fntdata"/><Relationship Id="rId13" Type="http://schemas.openxmlformats.org/officeDocument/2006/relationships/slide" Target="slides/slide7.xml"/><Relationship Id="rId35" Type="http://schemas.openxmlformats.org/officeDocument/2006/relationships/font" Target="fonts/Corben-bold.fntdata"/><Relationship Id="rId12" Type="http://schemas.openxmlformats.org/officeDocument/2006/relationships/slide" Target="slides/slide6.xml"/><Relationship Id="rId34" Type="http://schemas.openxmlformats.org/officeDocument/2006/relationships/font" Target="fonts/Corben-regular.fntdata"/><Relationship Id="rId15" Type="http://schemas.openxmlformats.org/officeDocument/2006/relationships/slide" Target="slides/slide9.xml"/><Relationship Id="rId37" Type="http://schemas.openxmlformats.org/officeDocument/2006/relationships/font" Target="fonts/Rubik-bold.fntdata"/><Relationship Id="rId14" Type="http://schemas.openxmlformats.org/officeDocument/2006/relationships/slide" Target="slides/slide8.xml"/><Relationship Id="rId36" Type="http://schemas.openxmlformats.org/officeDocument/2006/relationships/font" Target="fonts/Rubik-regular.fntdata"/><Relationship Id="rId17" Type="http://schemas.openxmlformats.org/officeDocument/2006/relationships/slide" Target="slides/slide11.xml"/><Relationship Id="rId39" Type="http://schemas.openxmlformats.org/officeDocument/2006/relationships/font" Target="fonts/Rubik-boldItalic.fntdata"/><Relationship Id="rId16" Type="http://schemas.openxmlformats.org/officeDocument/2006/relationships/slide" Target="slides/slide10.xml"/><Relationship Id="rId38" Type="http://schemas.openxmlformats.org/officeDocument/2006/relationships/font" Target="fonts/Rubik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a44eb61a6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a44eb61a6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Cohort 1 - Week 2 - last week 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73ac9e67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73ac9e67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73ac9e67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73ac9e67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73ac9e67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73ac9e67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73ac9e6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73ac9e6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73d2b13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73d2b13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73d2b13b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73d2b13b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73d2b13b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73d2b13b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73d2b13b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73d2b13b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73ac9e67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73ac9e67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73ac9e67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73ac9e67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73ac9e67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73ac9e67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73ac9e670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73ac9e670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73ac9e67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73ac9e67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73ac9e67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73ac9e67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73d2b13b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73d2b13b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73d2b13b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73d2b13b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73d2b13b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73d2b13b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73d2b13bb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73d2b13bb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73ac9e67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73ac9e67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73ac9e67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c73ac9e67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bove image">
  <p:cSld name="SECTION_HEADER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33625"/>
            <a:ext cx="8520600" cy="572700"/>
          </a:xfrm>
          <a:prstGeom prst="rect">
            <a:avLst/>
          </a:prstGeom>
          <a:solidFill>
            <a:srgbClr val="E8E7FC">
              <a:alpha val="52530"/>
            </a:srgbClr>
          </a:solidFill>
          <a:ln cap="flat" cmpd="sng" w="9525">
            <a:solidFill>
              <a:srgbClr val="8000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93475"/>
            <a:ext cx="8520600" cy="3416400"/>
          </a:xfrm>
          <a:prstGeom prst="rect">
            <a:avLst/>
          </a:prstGeom>
          <a:solidFill>
            <a:srgbClr val="E8E7FC">
              <a:alpha val="52530"/>
            </a:srgbClr>
          </a:solidFill>
          <a:ln cap="flat" cmpd="sng" w="9525">
            <a:solidFill>
              <a:srgbClr val="8000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above image">
  <p:cSld name="SECTION_HEADER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/>
          <p:nvPr>
            <p:ph idx="2" type="pic"/>
          </p:nvPr>
        </p:nvSpPr>
        <p:spPr>
          <a:xfrm>
            <a:off x="0" y="16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2148600"/>
            <a:ext cx="8520600" cy="846300"/>
          </a:xfrm>
          <a:prstGeom prst="rect">
            <a:avLst/>
          </a:prstGeom>
          <a:solidFill>
            <a:srgbClr val="800082">
              <a:alpha val="64560"/>
            </a:srgbClr>
          </a:solidFill>
          <a:ln cap="flat" cmpd="sng" w="9525">
            <a:solidFill>
              <a:srgbClr val="8000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Instruction">
  <p:cSld name="TITLE_AND_BODY_3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996906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7"/>
          <p:cNvSpPr txBox="1"/>
          <p:nvPr>
            <p:ph idx="2" type="title"/>
          </p:nvPr>
        </p:nvSpPr>
        <p:spPr>
          <a:xfrm>
            <a:off x="311700" y="636406"/>
            <a:ext cx="85206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None/>
              <a:defRPr sz="1800">
                <a:solidFill>
                  <a:srgbClr val="FF00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None/>
              <a:defRPr sz="1800">
                <a:solidFill>
                  <a:srgbClr val="FF00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None/>
              <a:defRPr sz="1800">
                <a:solidFill>
                  <a:srgbClr val="FF00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None/>
              <a:defRPr sz="1800">
                <a:solidFill>
                  <a:srgbClr val="FF00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None/>
              <a:defRPr sz="1800">
                <a:solidFill>
                  <a:srgbClr val="FF00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None/>
              <a:defRPr sz="1800">
                <a:solidFill>
                  <a:srgbClr val="FF00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None/>
              <a:defRPr sz="1800">
                <a:solidFill>
                  <a:srgbClr val="FF00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None/>
              <a:defRPr sz="1800">
                <a:solidFill>
                  <a:srgbClr val="FF00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None/>
              <a:defRPr sz="1800">
                <a:solidFill>
                  <a:srgbClr val="FF00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AND_BODY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" name="Google Shape;35;p8"/>
          <p:cNvGrpSpPr/>
          <p:nvPr/>
        </p:nvGrpSpPr>
        <p:grpSpPr>
          <a:xfrm>
            <a:off x="866149" y="236193"/>
            <a:ext cx="7964574" cy="4333179"/>
            <a:chOff x="2795642" y="565141"/>
            <a:chExt cx="3552600" cy="4001828"/>
          </a:xfrm>
        </p:grpSpPr>
        <p:sp>
          <p:nvSpPr>
            <p:cNvPr id="36" name="Google Shape;36;p8"/>
            <p:cNvSpPr/>
            <p:nvPr/>
          </p:nvSpPr>
          <p:spPr>
            <a:xfrm>
              <a:off x="2795642" y="1177869"/>
              <a:ext cx="3552600" cy="33891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71450" rotWithShape="0" algn="bl" dir="2700000" dist="571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" name="Google Shape;37;p8"/>
            <p:cNvSpPr/>
            <p:nvPr/>
          </p:nvSpPr>
          <p:spPr>
            <a:xfrm>
              <a:off x="2795643" y="643908"/>
              <a:ext cx="913800" cy="5340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71450" rotWithShape="0" algn="bl" dir="2700000" dist="571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8" name="Google Shape;38;p8"/>
            <p:cNvSpPr txBox="1"/>
            <p:nvPr/>
          </p:nvSpPr>
          <p:spPr>
            <a:xfrm>
              <a:off x="2924956" y="565141"/>
              <a:ext cx="735600" cy="8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5000">
                  <a:solidFill>
                    <a:srgbClr val="FF0000"/>
                  </a:solidFill>
                  <a:latin typeface="Corben"/>
                  <a:ea typeface="Corben"/>
                  <a:cs typeface="Corben"/>
                  <a:sym typeface="Corben"/>
                </a:rPr>
                <a:t>“</a:t>
              </a:r>
              <a:endParaRPr b="1" sz="5000">
                <a:solidFill>
                  <a:srgbClr val="FF0000"/>
                </a:solidFill>
                <a:latin typeface="Corben"/>
                <a:ea typeface="Corben"/>
                <a:cs typeface="Corben"/>
                <a:sym typeface="Corben"/>
              </a:endParaRPr>
            </a:p>
          </p:txBody>
        </p:sp>
      </p:grp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1136350" y="923875"/>
            <a:ext cx="7336200" cy="24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2" type="body"/>
          </p:nvPr>
        </p:nvSpPr>
        <p:spPr>
          <a:xfrm>
            <a:off x="933000" y="3863600"/>
            <a:ext cx="76794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  <a:defRPr>
                <a:solidFill>
                  <a:srgbClr val="FF000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3" type="body"/>
          </p:nvPr>
        </p:nvSpPr>
        <p:spPr>
          <a:xfrm>
            <a:off x="1076550" y="4796625"/>
            <a:ext cx="7395900" cy="1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image">
  <p:cSld name="TITLE_AND_BODY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311700" y="64025"/>
            <a:ext cx="484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311700" y="923875"/>
            <a:ext cx="4843800" cy="3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9"/>
          <p:cNvSpPr/>
          <p:nvPr/>
        </p:nvSpPr>
        <p:spPr>
          <a:xfrm>
            <a:off x="5294650" y="-125"/>
            <a:ext cx="3849300" cy="5143500"/>
          </a:xfrm>
          <a:prstGeom prst="rect">
            <a:avLst/>
          </a:prstGeom>
          <a:noFill/>
          <a:ln cap="flat" cmpd="sng" w="19050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9"/>
          <p:cNvSpPr/>
          <p:nvPr>
            <p:ph idx="2" type="pic"/>
          </p:nvPr>
        </p:nvSpPr>
        <p:spPr>
          <a:xfrm>
            <a:off x="5346850" y="0"/>
            <a:ext cx="38493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00082"/>
              </a:buClr>
              <a:buSzPts val="3200"/>
              <a:buFont typeface="Unbounded Medium"/>
              <a:buNone/>
              <a:defRPr sz="3200">
                <a:solidFill>
                  <a:srgbClr val="800082"/>
                </a:solidFill>
                <a:latin typeface="Unbounded Medium"/>
                <a:ea typeface="Unbounded Medium"/>
                <a:cs typeface="Unbounded Medium"/>
                <a:sym typeface="Unbound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Unbounded"/>
              <a:buNone/>
              <a:defRPr sz="32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0008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ctrTitle"/>
          </p:nvPr>
        </p:nvSpPr>
        <p:spPr>
          <a:xfrm>
            <a:off x="311708" y="1130675"/>
            <a:ext cx="8520600" cy="20526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Product Leader Audit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11700" y="3220225"/>
            <a:ext cx="8520600" cy="7926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&lt;Person name&gt;</a:t>
            </a:r>
            <a:endParaRPr>
              <a:solidFill>
                <a:srgbClr val="FF00FF"/>
              </a:solidFill>
            </a:endParaRPr>
          </a:p>
        </p:txBody>
      </p:sp>
      <p:pic>
        <p:nvPicPr>
          <p:cNvPr id="84" name="Google Shape;84;p18" title="verve-pm_White-transpar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6725" y="22856"/>
            <a:ext cx="769625" cy="60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Managing myself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/>
        </p:nvSpPr>
        <p:spPr>
          <a:xfrm>
            <a:off x="311700" y="996900"/>
            <a:ext cx="4260300" cy="40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Where does my energy currently go?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FF00FF"/>
              </a:buClr>
              <a:buSzPts val="1700"/>
              <a:buFont typeface="Roboto"/>
              <a:buChar char="●"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&lt;Answer here&gt;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drains me the most?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FF00FF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&lt;Answer here&gt;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myself</a:t>
            </a:r>
            <a:endParaRPr/>
          </a:p>
        </p:txBody>
      </p:sp>
      <p:sp>
        <p:nvSpPr>
          <p:cNvPr id="96" name="Google Shape;96;p20"/>
          <p:cNvSpPr txBox="1"/>
          <p:nvPr>
            <p:ph idx="2" type="title"/>
          </p:nvPr>
        </p:nvSpPr>
        <p:spPr>
          <a:xfrm>
            <a:off x="311700" y="636406"/>
            <a:ext cx="85206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(For each area)</a:t>
            </a:r>
            <a:endParaRPr/>
          </a:p>
        </p:txBody>
      </p:sp>
      <p:sp>
        <p:nvSpPr>
          <p:cNvPr id="97" name="Google Shape;97;p20"/>
          <p:cNvSpPr txBox="1"/>
          <p:nvPr/>
        </p:nvSpPr>
        <p:spPr>
          <a:xfrm>
            <a:off x="4819250" y="996900"/>
            <a:ext cx="4260300" cy="40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Where am I reactive instead of intentional?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FF00FF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&lt;Answer here&gt;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</a:rPr>
              <a:t>What boundaries am I not protecting?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FF00FF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&lt;Answer here&gt;</a:t>
            </a:r>
            <a:endParaRPr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2: </a:t>
            </a:r>
            <a:r>
              <a:rPr lang="en"/>
              <a:t>Current state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Current: Areas of responsibility</a:t>
            </a:r>
            <a:endParaRPr/>
          </a:p>
        </p:txBody>
      </p:sp>
      <p:sp>
        <p:nvSpPr>
          <p:cNvPr id="108" name="Google Shape;108;p22"/>
          <p:cNvSpPr txBox="1"/>
          <p:nvPr>
            <p:ph idx="2" type="title"/>
          </p:nvPr>
        </p:nvSpPr>
        <p:spPr>
          <a:xfrm>
            <a:off x="311700" y="636406"/>
            <a:ext cx="85206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Fill in your top 4 areas of responsibility. This is not a product audit.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leadership leverage audit. </a:t>
            </a:r>
            <a:endParaRPr/>
          </a:p>
        </p:txBody>
      </p:sp>
      <p:graphicFrame>
        <p:nvGraphicFramePr>
          <p:cNvPr id="109" name="Google Shape;109;p22"/>
          <p:cNvGraphicFramePr/>
          <p:nvPr/>
        </p:nvGraphicFramePr>
        <p:xfrm>
          <a:off x="311700" y="159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{6BB63DB4-29A6-4A25-A509-9126EFAA574D}</a:tableStyleId>
              </a:tblPr>
              <a:tblGrid>
                <a:gridCol w="3152475"/>
                <a:gridCol w="536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80008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Area name (product/ team/ opportunity)</a:t>
                      </a:r>
                      <a:endParaRPr b="1" sz="1800">
                        <a:solidFill>
                          <a:srgbClr val="80008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80008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Key responsibilities</a:t>
                      </a:r>
                      <a:endParaRPr b="1" sz="1800">
                        <a:solidFill>
                          <a:srgbClr val="80008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Area 1 summary</a:t>
            </a:r>
            <a:endParaRPr/>
          </a:p>
        </p:txBody>
      </p:sp>
      <p:sp>
        <p:nvSpPr>
          <p:cNvPr id="115" name="Google Shape;115;p23"/>
          <p:cNvSpPr txBox="1"/>
          <p:nvPr>
            <p:ph idx="2" type="title"/>
          </p:nvPr>
        </p:nvSpPr>
        <p:spPr>
          <a:xfrm>
            <a:off x="311700" y="636406"/>
            <a:ext cx="85206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(For each area)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am I personally involved in today?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only I can do?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47395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should not require me, but still does?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What am I avoiding or postponing?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Area 2 summary</a:t>
            </a:r>
            <a:endParaRPr/>
          </a:p>
        </p:txBody>
      </p:sp>
      <p:sp>
        <p:nvSpPr>
          <p:cNvPr id="123" name="Google Shape;123;p24"/>
          <p:cNvSpPr txBox="1"/>
          <p:nvPr>
            <p:ph idx="2" type="title"/>
          </p:nvPr>
        </p:nvSpPr>
        <p:spPr>
          <a:xfrm>
            <a:off x="311700" y="636406"/>
            <a:ext cx="85206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(For each area)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am I personally involved in today?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only I can do?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47395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should not require me, but still does?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What am I avoiding or postponing?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Area 3 summary</a:t>
            </a:r>
            <a:endParaRPr/>
          </a:p>
        </p:txBody>
      </p:sp>
      <p:sp>
        <p:nvSpPr>
          <p:cNvPr id="131" name="Google Shape;131;p25"/>
          <p:cNvSpPr txBox="1"/>
          <p:nvPr>
            <p:ph idx="2" type="title"/>
          </p:nvPr>
        </p:nvSpPr>
        <p:spPr>
          <a:xfrm>
            <a:off x="311700" y="636406"/>
            <a:ext cx="85206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(For each area)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am I personally involved in today?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only I can do?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47395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should not require me, but still does?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What am I avoiding or postponing?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Area 4 summary</a:t>
            </a:r>
            <a:endParaRPr/>
          </a:p>
        </p:txBody>
      </p:sp>
      <p:sp>
        <p:nvSpPr>
          <p:cNvPr id="139" name="Google Shape;139;p26"/>
          <p:cNvSpPr txBox="1"/>
          <p:nvPr>
            <p:ph idx="2" type="title"/>
          </p:nvPr>
        </p:nvSpPr>
        <p:spPr>
          <a:xfrm>
            <a:off x="311700" y="636406"/>
            <a:ext cx="85206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(For each area)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am I personally involved in today?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only I can do?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47395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should not require me, but still does?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What am I avoiding or postponing?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Bottlenecks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Bottlenecks by area</a:t>
            </a:r>
            <a:endParaRPr/>
          </a:p>
        </p:txBody>
      </p:sp>
      <p:sp>
        <p:nvSpPr>
          <p:cNvPr id="152" name="Google Shape;152;p28"/>
          <p:cNvSpPr txBox="1"/>
          <p:nvPr>
            <p:ph idx="2" type="title"/>
          </p:nvPr>
        </p:nvSpPr>
        <p:spPr>
          <a:xfrm>
            <a:off x="311700" y="636406"/>
            <a:ext cx="85206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area you identified, what is the top </a:t>
            </a:r>
            <a:r>
              <a:rPr lang="en"/>
              <a:t>bottleneck</a:t>
            </a:r>
            <a:r>
              <a:rPr lang="en"/>
              <a:t> you experience? You may choose only ONE bottleneck per area.</a:t>
            </a:r>
            <a:endParaRPr/>
          </a:p>
        </p:txBody>
      </p:sp>
      <p:graphicFrame>
        <p:nvGraphicFramePr>
          <p:cNvPr id="153" name="Google Shape;153;p28"/>
          <p:cNvGraphicFramePr/>
          <p:nvPr/>
        </p:nvGraphicFramePr>
        <p:xfrm>
          <a:off x="311700" y="159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{6BB63DB4-29A6-4A25-A509-9126EFAA574D}</a:tableStyleId>
              </a:tblPr>
              <a:tblGrid>
                <a:gridCol w="3152475"/>
                <a:gridCol w="536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80008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Area name </a:t>
                      </a:r>
                      <a:endParaRPr b="1" sz="1800">
                        <a:solidFill>
                          <a:srgbClr val="80008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80008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Bottleneck</a:t>
                      </a:r>
                      <a:endParaRPr b="1" sz="1800">
                        <a:solidFill>
                          <a:srgbClr val="80008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4: Leadership lever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Levers by area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311700" y="1652200"/>
            <a:ext cx="4155600" cy="34164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/>
              <a:t>A Real Lever Must:</a:t>
            </a:r>
            <a:endParaRPr b="1" sz="1700">
              <a:solidFill>
                <a:schemeClr val="dk1"/>
              </a:solidFill>
            </a:endParaRPr>
          </a:p>
          <a:p>
            <a:pPr indent="-317182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Be fully under your control</a:t>
            </a:r>
            <a:endParaRPr/>
          </a:p>
          <a:p>
            <a:pPr indent="-31718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Reduce repeated stress, not just one incident</a:t>
            </a:r>
            <a:endParaRPr/>
          </a:p>
          <a:p>
            <a:pPr indent="-31718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Improve clarity, ownership, or decision flow</a:t>
            </a:r>
            <a:endParaRPr/>
          </a:p>
          <a:p>
            <a:pPr indent="-31718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Make future problems easier to handle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/>
              <a:t>Pressure Test: </a:t>
            </a:r>
            <a:r>
              <a:rPr lang="en">
                <a:solidFill>
                  <a:schemeClr val="dk1"/>
                </a:solidFill>
              </a:rPr>
              <a:t>If you implemented this consistently for 30 days:</a:t>
            </a:r>
            <a:endParaRPr>
              <a:solidFill>
                <a:schemeClr val="dk1"/>
              </a:solidFill>
            </a:endParaRPr>
          </a:p>
          <a:p>
            <a:pPr indent="-317182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Would 30% of your recurring friction disappear?</a:t>
            </a:r>
            <a:endParaRPr/>
          </a:p>
          <a:p>
            <a:pPr indent="-31718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Would fewer things escalate to you?</a:t>
            </a:r>
            <a:endParaRPr/>
          </a:p>
          <a:p>
            <a:pPr indent="-31718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Would decisions move faster without you?</a:t>
            </a:r>
            <a:endParaRPr/>
          </a:p>
        </p:txBody>
      </p:sp>
      <p:sp>
        <p:nvSpPr>
          <p:cNvPr id="165" name="Google Shape;165;p30"/>
          <p:cNvSpPr txBox="1"/>
          <p:nvPr>
            <p:ph idx="2" type="title"/>
          </p:nvPr>
        </p:nvSpPr>
        <p:spPr>
          <a:xfrm>
            <a:off x="311700" y="636406"/>
            <a:ext cx="85206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levers do you have as a leader? A </a:t>
            </a:r>
            <a:r>
              <a:rPr b="1" lang="en">
                <a:latin typeface="Unbounded"/>
                <a:ea typeface="Unbounded"/>
                <a:cs typeface="Unbounded"/>
                <a:sym typeface="Unbounded"/>
              </a:rPr>
              <a:t>leadership lever</a:t>
            </a:r>
            <a:r>
              <a:rPr lang="en"/>
              <a:t> is the one change in behavior, structure, or rule that meaningfully reduces recurring friction.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4676725" y="1652200"/>
            <a:ext cx="4155600" cy="34164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Examples: 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Example 1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Problem: SOS mode during launches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Lever: Mandatory launch owner + feature flag policy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Example 2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Problem: Senior hires underperform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Lever: Explicit 30-60-90 ownership expectations before start date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Example 3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Problem: Context switching &amp; fatigue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Lever: 2 protected weekly deep-work blocks + no-Slack windows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Levers by area</a:t>
            </a:r>
            <a:endParaRPr/>
          </a:p>
        </p:txBody>
      </p:sp>
      <p:sp>
        <p:nvSpPr>
          <p:cNvPr id="172" name="Google Shape;172;p31"/>
          <p:cNvSpPr txBox="1"/>
          <p:nvPr>
            <p:ph idx="2" type="title"/>
          </p:nvPr>
        </p:nvSpPr>
        <p:spPr>
          <a:xfrm>
            <a:off x="311700" y="636402"/>
            <a:ext cx="85206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levers do you have as a leader? </a:t>
            </a:r>
            <a:r>
              <a:rPr lang="en"/>
              <a:t>A </a:t>
            </a:r>
            <a:r>
              <a:rPr b="1" lang="en">
                <a:latin typeface="Unbounded"/>
                <a:ea typeface="Unbounded"/>
                <a:cs typeface="Unbounded"/>
                <a:sym typeface="Unbounded"/>
              </a:rPr>
              <a:t>leadership lever</a:t>
            </a:r>
            <a:r>
              <a:rPr lang="en"/>
              <a:t> is the one change in behavior, structure, or rule that meaningfully reduces recurring friction.</a:t>
            </a:r>
            <a:endParaRPr/>
          </a:p>
        </p:txBody>
      </p:sp>
      <p:graphicFrame>
        <p:nvGraphicFramePr>
          <p:cNvPr id="173" name="Google Shape;173;p31"/>
          <p:cNvGraphicFramePr/>
          <p:nvPr/>
        </p:nvGraphicFramePr>
        <p:xfrm>
          <a:off x="311700" y="177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{6BB63DB4-29A6-4A25-A509-9126EFAA574D}</a:tableStyleId>
              </a:tblPr>
              <a:tblGrid>
                <a:gridCol w="3152475"/>
                <a:gridCol w="5368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80008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Area name </a:t>
                      </a:r>
                      <a:endParaRPr b="1" sz="1800">
                        <a:solidFill>
                          <a:srgbClr val="80008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80008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Lever</a:t>
                      </a:r>
                      <a:endParaRPr b="1" sz="1800">
                        <a:solidFill>
                          <a:srgbClr val="80008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5: Plan for execution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Area 1 execution</a:t>
            </a:r>
            <a:endParaRPr/>
          </a:p>
        </p:txBody>
      </p:sp>
      <p:sp>
        <p:nvSpPr>
          <p:cNvPr id="184" name="Google Shape;184;p33"/>
          <p:cNvSpPr txBox="1"/>
          <p:nvPr>
            <p:ph idx="2" type="title"/>
          </p:nvPr>
        </p:nvSpPr>
        <p:spPr>
          <a:xfrm>
            <a:off x="311700" y="636406"/>
            <a:ext cx="85206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(For each area)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Start doing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Stop doing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3"/>
          <p:cNvSpPr txBox="1"/>
          <p:nvPr>
            <p:ph idx="1" type="body"/>
          </p:nvPr>
        </p:nvSpPr>
        <p:spPr>
          <a:xfrm>
            <a:off x="47395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Success Signal (How will I know this helped?):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Target date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Area 2 execution</a:t>
            </a:r>
            <a:endParaRPr/>
          </a:p>
        </p:txBody>
      </p:sp>
      <p:sp>
        <p:nvSpPr>
          <p:cNvPr id="192" name="Google Shape;192;p34"/>
          <p:cNvSpPr txBox="1"/>
          <p:nvPr>
            <p:ph idx="2" type="title"/>
          </p:nvPr>
        </p:nvSpPr>
        <p:spPr>
          <a:xfrm>
            <a:off x="311700" y="636406"/>
            <a:ext cx="85206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(For each area)</a:t>
            </a:r>
            <a:endParaRPr/>
          </a:p>
        </p:txBody>
      </p:sp>
      <p:sp>
        <p:nvSpPr>
          <p:cNvPr id="193" name="Google Shape;193;p34"/>
          <p:cNvSpPr txBox="1"/>
          <p:nvPr>
            <p:ph idx="1" type="body"/>
          </p:nvPr>
        </p:nvSpPr>
        <p:spPr>
          <a:xfrm>
            <a:off x="3117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Start doing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Stop doing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47395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Success Signal (How will I know this helped?):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Target date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Area 3 execution</a:t>
            </a:r>
            <a:endParaRPr/>
          </a:p>
        </p:txBody>
      </p:sp>
      <p:sp>
        <p:nvSpPr>
          <p:cNvPr id="200" name="Google Shape;200;p35"/>
          <p:cNvSpPr txBox="1"/>
          <p:nvPr>
            <p:ph idx="2" type="title"/>
          </p:nvPr>
        </p:nvSpPr>
        <p:spPr>
          <a:xfrm>
            <a:off x="311700" y="636406"/>
            <a:ext cx="85206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(For each area)</a:t>
            </a:r>
            <a:endParaRPr/>
          </a:p>
        </p:txBody>
      </p:sp>
      <p:sp>
        <p:nvSpPr>
          <p:cNvPr id="201" name="Google Shape;201;p35"/>
          <p:cNvSpPr txBox="1"/>
          <p:nvPr>
            <p:ph idx="1" type="body"/>
          </p:nvPr>
        </p:nvSpPr>
        <p:spPr>
          <a:xfrm>
            <a:off x="3117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Start doing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Stop doing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47395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Success Signal (How will I know this helped?):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Target date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Area 4 execution</a:t>
            </a:r>
            <a:endParaRPr/>
          </a:p>
        </p:txBody>
      </p:sp>
      <p:sp>
        <p:nvSpPr>
          <p:cNvPr id="208" name="Google Shape;208;p36"/>
          <p:cNvSpPr txBox="1"/>
          <p:nvPr>
            <p:ph idx="2" type="title"/>
          </p:nvPr>
        </p:nvSpPr>
        <p:spPr>
          <a:xfrm>
            <a:off x="311700" y="636406"/>
            <a:ext cx="85206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(For each area)</a:t>
            </a:r>
            <a:endParaRPr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3117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Start doing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Stop doing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4739500" y="996900"/>
            <a:ext cx="4260300" cy="4011000"/>
          </a:xfrm>
          <a:prstGeom prst="rect">
            <a:avLst/>
          </a:prstGeom>
          <a:ln cap="flat" cmpd="sng" w="9525">
            <a:solidFill>
              <a:srgbClr val="E8E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Success Signal (How will I know this helped?):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Target date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 here&gt;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6: 30-days retro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30-day retro</a:t>
            </a:r>
            <a:endParaRPr/>
          </a:p>
        </p:txBody>
      </p:sp>
      <p:sp>
        <p:nvSpPr>
          <p:cNvPr id="221" name="Google Shape;221;p38"/>
          <p:cNvSpPr txBox="1"/>
          <p:nvPr>
            <p:ph idx="1" type="body"/>
          </p:nvPr>
        </p:nvSpPr>
        <p:spPr>
          <a:xfrm>
            <a:off x="311700" y="996899"/>
            <a:ext cx="8520600" cy="401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gave me relief?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</a:t>
            </a:r>
            <a:r>
              <a:rPr lang="en" sz="1700">
                <a:solidFill>
                  <a:schemeClr val="dk1"/>
                </a:solidFill>
              </a:rPr>
              <a:t>Answer</a:t>
            </a:r>
            <a:r>
              <a:rPr lang="en" sz="1700">
                <a:solidFill>
                  <a:schemeClr val="dk1"/>
                </a:solidFill>
              </a:rPr>
              <a:t>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Where am I still the bottleneck?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</a:t>
            </a:r>
            <a:r>
              <a:rPr lang="en" sz="1700">
                <a:solidFill>
                  <a:schemeClr val="dk1"/>
                </a:solidFill>
              </a:rPr>
              <a:t>Answer</a:t>
            </a:r>
            <a:r>
              <a:rPr lang="en" sz="1700">
                <a:solidFill>
                  <a:schemeClr val="dk1"/>
                </a:solidFill>
              </a:rPr>
              <a:t>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surprised me about my behavior?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</a:t>
            </a:r>
            <a:r>
              <a:rPr lang="en" sz="1700">
                <a:solidFill>
                  <a:schemeClr val="dk1"/>
                </a:solidFill>
              </a:rPr>
              <a:t>Answer</a:t>
            </a:r>
            <a:r>
              <a:rPr lang="en" sz="1700">
                <a:solidFill>
                  <a:schemeClr val="dk1"/>
                </a:solidFill>
              </a:rPr>
              <a:t>&gt;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What should I double down on next?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&lt;Answer&gt;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22" name="Google Shape;222;p38"/>
          <p:cNvSpPr txBox="1"/>
          <p:nvPr>
            <p:ph idx="2" type="title"/>
          </p:nvPr>
        </p:nvSpPr>
        <p:spPr>
          <a:xfrm>
            <a:off x="311700" y="636406"/>
            <a:ext cx="8520600" cy="2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did great, let’s reflect on your progress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